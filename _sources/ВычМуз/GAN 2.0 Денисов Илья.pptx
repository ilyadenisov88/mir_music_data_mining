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cc0847f72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cc0847f72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cc0847f72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2cc0847f72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cc09f32dc6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cc09f32dc6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cc0847f723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cc0847f72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cc09f32dc6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2cc09f32dc6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cc09f32dc6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cc09f32dc6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cc09f32dc6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cc09f32dc6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cc09f32dc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cc09f32dc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cc09f32dc6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cc09f32dc6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cc09f32dc6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2cc09f32dc6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hyperlink" Target="http://drive.google.com/file/d/1wgstmVQkt_Wjk70Zjcb4v3OkZkqlPeCR/view" TargetMode="External"/><Relationship Id="rId5"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p:nvPr/>
        </p:nvSpPr>
        <p:spPr>
          <a:xfrm>
            <a:off x="388075" y="1844775"/>
            <a:ext cx="8520600" cy="705600"/>
          </a:xfrm>
          <a:prstGeom prst="roundRect">
            <a:avLst>
              <a:gd fmla="val 16667" name="adj"/>
            </a:avLst>
          </a:prstGeom>
          <a:solidFill>
            <a:srgbClr val="59ADAD">
              <a:alpha val="29560"/>
            </a:srgbClr>
          </a:solidFill>
          <a:ln cap="flat" cmpd="sng" w="9525">
            <a:solidFill>
              <a:schemeClr val="lt2"/>
            </a:solidFill>
            <a:prstDash val="solid"/>
            <a:round/>
            <a:headEnd len="sm" w="sm" type="none"/>
            <a:tailEnd len="sm" w="sm" type="none"/>
          </a:ln>
          <a:effectLst>
            <a:outerShdw blurRad="57150" rotWithShape="0" algn="bl" dir="5400000" dist="19050">
              <a:srgbClr val="000000">
                <a:alpha val="3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 name="Google Shape;55;p13"/>
          <p:cNvSpPr txBox="1"/>
          <p:nvPr>
            <p:ph type="ctrTitle"/>
          </p:nvPr>
        </p:nvSpPr>
        <p:spPr>
          <a:xfrm>
            <a:off x="388075" y="1774800"/>
            <a:ext cx="8520600" cy="684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ru" sz="3250">
                <a:solidFill>
                  <a:srgbClr val="032A37"/>
                </a:solidFill>
              </a:rPr>
              <a:t>Генеративно-состязательные сети(GAN)</a:t>
            </a:r>
            <a:endParaRPr sz="3650">
              <a:solidFill>
                <a:srgbClr val="032A37"/>
              </a:solidFill>
            </a:endParaRPr>
          </a:p>
        </p:txBody>
      </p:sp>
      <p:sp>
        <p:nvSpPr>
          <p:cNvPr id="56" name="Google Shape;56;p13"/>
          <p:cNvSpPr txBox="1"/>
          <p:nvPr/>
        </p:nvSpPr>
        <p:spPr>
          <a:xfrm>
            <a:off x="336475" y="1774800"/>
            <a:ext cx="8698500" cy="6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ru" sz="3250">
                <a:solidFill>
                  <a:srgbClr val="EEEEEE"/>
                </a:solidFill>
              </a:rPr>
              <a:t>Генеративно-состязательные сети(GAN)</a:t>
            </a:r>
            <a:endParaRPr>
              <a:solidFill>
                <a:srgbClr val="EEEEEE"/>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История создания и концепция</a:t>
            </a:r>
            <a:endParaRPr/>
          </a:p>
        </p:txBody>
      </p:sp>
      <p:sp>
        <p:nvSpPr>
          <p:cNvPr id="62" name="Google Shape;62;p14"/>
          <p:cNvSpPr txBox="1"/>
          <p:nvPr>
            <p:ph idx="1" type="body"/>
          </p:nvPr>
        </p:nvSpPr>
        <p:spPr>
          <a:xfrm>
            <a:off x="311700" y="1152475"/>
            <a:ext cx="5850000" cy="3416400"/>
          </a:xfrm>
          <a:prstGeom prst="rect">
            <a:avLst/>
          </a:prstGeom>
        </p:spPr>
        <p:txBody>
          <a:bodyPr anchorCtr="0" anchor="t" bIns="91425" lIns="91425" spcFirstLastPara="1" rIns="91425" wrap="square" tIns="91425">
            <a:normAutofit/>
          </a:bodyPr>
          <a:lstStyle/>
          <a:p>
            <a:pPr indent="-317500" lvl="0" marL="457200" rtl="0" algn="just">
              <a:lnSpc>
                <a:spcPct val="150000"/>
              </a:lnSpc>
              <a:spcBef>
                <a:spcPts val="0"/>
              </a:spcBef>
              <a:spcAft>
                <a:spcPts val="0"/>
              </a:spcAft>
              <a:buClr>
                <a:schemeClr val="dk1"/>
              </a:buClr>
              <a:buSzPts val="1400"/>
              <a:buChar char="●"/>
            </a:pPr>
            <a:r>
              <a:rPr lang="ru" sz="1400">
                <a:solidFill>
                  <a:schemeClr val="dk1"/>
                </a:solidFill>
              </a:rPr>
              <a:t>Проблема плохого качества сгенерированного изображения</a:t>
            </a:r>
            <a:endParaRPr sz="1400">
              <a:solidFill>
                <a:schemeClr val="dk1"/>
              </a:solidFill>
            </a:endParaRPr>
          </a:p>
          <a:p>
            <a:pPr indent="-317500" lvl="0" marL="457200" rtl="0" algn="just">
              <a:lnSpc>
                <a:spcPct val="150000"/>
              </a:lnSpc>
              <a:spcBef>
                <a:spcPts val="0"/>
              </a:spcBef>
              <a:spcAft>
                <a:spcPts val="0"/>
              </a:spcAft>
              <a:buClr>
                <a:schemeClr val="dk1"/>
              </a:buClr>
              <a:buSzPts val="1400"/>
              <a:buChar char="●"/>
            </a:pPr>
            <a:r>
              <a:rPr lang="ru" sz="1400">
                <a:solidFill>
                  <a:schemeClr val="dk1"/>
                </a:solidFill>
              </a:rPr>
              <a:t>Ян Гудфеллоу - 2014 год</a:t>
            </a:r>
            <a:endParaRPr sz="1400">
              <a:solidFill>
                <a:schemeClr val="dk1"/>
              </a:solidFill>
              <a:highlight>
                <a:srgbClr val="FFFFFF"/>
              </a:highlight>
            </a:endParaRPr>
          </a:p>
          <a:p>
            <a:pPr indent="-317500" lvl="0" marL="457200" rtl="0" algn="just">
              <a:lnSpc>
                <a:spcPct val="150000"/>
              </a:lnSpc>
              <a:spcBef>
                <a:spcPts val="0"/>
              </a:spcBef>
              <a:spcAft>
                <a:spcPts val="0"/>
              </a:spcAft>
              <a:buClr>
                <a:schemeClr val="dk1"/>
              </a:buClr>
              <a:buSzPts val="1400"/>
              <a:buChar char="●"/>
            </a:pPr>
            <a:r>
              <a:rPr lang="ru" sz="1400">
                <a:solidFill>
                  <a:schemeClr val="dk1"/>
                </a:solidFill>
                <a:highlight>
                  <a:srgbClr val="FFFFFF"/>
                </a:highlight>
              </a:rPr>
              <a:t>Комбинация из двух нейронных сетей</a:t>
            </a:r>
            <a:r>
              <a:rPr lang="ru" sz="1400">
                <a:solidFill>
                  <a:schemeClr val="dk1"/>
                </a:solidFill>
              </a:rPr>
              <a:t>: г</a:t>
            </a:r>
            <a:r>
              <a:rPr lang="ru" sz="1400">
                <a:solidFill>
                  <a:schemeClr val="dk1"/>
                </a:solidFill>
                <a:highlight>
                  <a:srgbClr val="FFFFFF"/>
                </a:highlight>
              </a:rPr>
              <a:t>енеративная модель G, дискриминативная модель D</a:t>
            </a:r>
            <a:endParaRPr sz="1400">
              <a:solidFill>
                <a:schemeClr val="dk1"/>
              </a:solidFill>
              <a:highlight>
                <a:srgbClr val="FFFFFF"/>
              </a:highlight>
            </a:endParaRPr>
          </a:p>
        </p:txBody>
      </p:sp>
      <p:pic>
        <p:nvPicPr>
          <p:cNvPr id="63" name="Google Shape;63;p14"/>
          <p:cNvPicPr preferRelativeResize="0"/>
          <p:nvPr/>
        </p:nvPicPr>
        <p:blipFill>
          <a:blip r:embed="rId3">
            <a:alphaModFix/>
          </a:blip>
          <a:stretch>
            <a:fillRect/>
          </a:stretch>
        </p:blipFill>
        <p:spPr>
          <a:xfrm>
            <a:off x="507750" y="2571750"/>
            <a:ext cx="7176225" cy="1877950"/>
          </a:xfrm>
          <a:prstGeom prst="rect">
            <a:avLst/>
          </a:prstGeom>
          <a:noFill/>
          <a:ln>
            <a:noFill/>
          </a:ln>
        </p:spPr>
      </p:pic>
      <p:pic>
        <p:nvPicPr>
          <p:cNvPr id="64" name="Google Shape;64;p14"/>
          <p:cNvPicPr preferRelativeResize="0"/>
          <p:nvPr/>
        </p:nvPicPr>
        <p:blipFill rotWithShape="1">
          <a:blip r:embed="rId4">
            <a:alphaModFix/>
          </a:blip>
          <a:srcRect b="0" l="31293" r="33586" t="0"/>
          <a:stretch/>
        </p:blipFill>
        <p:spPr>
          <a:xfrm>
            <a:off x="7095800" y="242175"/>
            <a:ext cx="1556849" cy="2489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0" name="Google Shape;70;p15"/>
          <p:cNvSpPr txBox="1"/>
          <p:nvPr>
            <p:ph idx="1" type="body"/>
          </p:nvPr>
        </p:nvSpPr>
        <p:spPr>
          <a:xfrm>
            <a:off x="311700" y="3667525"/>
            <a:ext cx="8520600" cy="1074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AutoNum type="arabicPeriod"/>
            </a:pPr>
            <a:r>
              <a:rPr lang="ru">
                <a:solidFill>
                  <a:schemeClr val="dk1"/>
                </a:solidFill>
              </a:rPr>
              <a:t>Дискриминатор стремится выдавать на Fake 0, на Real 1</a:t>
            </a:r>
            <a:endParaRPr>
              <a:solidFill>
                <a:schemeClr val="dk1"/>
              </a:solidFill>
            </a:endParaRPr>
          </a:p>
          <a:p>
            <a:pPr indent="-342900" lvl="0" marL="457200" rtl="0" algn="l">
              <a:spcBef>
                <a:spcPts val="0"/>
              </a:spcBef>
              <a:spcAft>
                <a:spcPts val="0"/>
              </a:spcAft>
              <a:buClr>
                <a:schemeClr val="dk1"/>
              </a:buClr>
              <a:buSzPts val="1800"/>
              <a:buAutoNum type="arabicPeriod"/>
            </a:pPr>
            <a:r>
              <a:rPr lang="ru">
                <a:solidFill>
                  <a:schemeClr val="dk1"/>
                </a:solidFill>
              </a:rPr>
              <a:t>Генератор стремится, чтобы дискриминатор выдавал на Fake 1</a:t>
            </a:r>
            <a:endParaRPr>
              <a:solidFill>
                <a:schemeClr val="dk1"/>
              </a:solidFill>
            </a:endParaRPr>
          </a:p>
        </p:txBody>
      </p:sp>
      <p:pic>
        <p:nvPicPr>
          <p:cNvPr id="71" name="Google Shape;71;p15"/>
          <p:cNvPicPr preferRelativeResize="0"/>
          <p:nvPr/>
        </p:nvPicPr>
        <p:blipFill>
          <a:blip r:embed="rId3">
            <a:alphaModFix/>
          </a:blip>
          <a:stretch>
            <a:fillRect/>
          </a:stretch>
        </p:blipFill>
        <p:spPr>
          <a:xfrm>
            <a:off x="690895" y="78150"/>
            <a:ext cx="7579430" cy="3416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7" name="Google Shape;77;p16"/>
          <p:cNvSpPr txBox="1"/>
          <p:nvPr>
            <p:ph idx="1" type="body"/>
          </p:nvPr>
        </p:nvSpPr>
        <p:spPr>
          <a:xfrm>
            <a:off x="311700" y="3644450"/>
            <a:ext cx="8520600" cy="1074300"/>
          </a:xfrm>
          <a:prstGeom prst="rect">
            <a:avLst/>
          </a:prstGeom>
        </p:spPr>
        <p:txBody>
          <a:bodyPr anchorCtr="0" anchor="t" bIns="91425" lIns="91425" spcFirstLastPara="1" rIns="91425" wrap="square" tIns="91425">
            <a:normAutofit/>
          </a:bodyPr>
          <a:lstStyle/>
          <a:p>
            <a:pPr indent="0" lvl="0" marL="457200" rtl="0" algn="l">
              <a:spcBef>
                <a:spcPts val="0"/>
              </a:spcBef>
              <a:spcAft>
                <a:spcPts val="1200"/>
              </a:spcAft>
              <a:buNone/>
            </a:pPr>
            <a:r>
              <a:t/>
            </a:r>
            <a:endParaRPr/>
          </a:p>
        </p:txBody>
      </p:sp>
      <p:pic>
        <p:nvPicPr>
          <p:cNvPr id="78" name="Google Shape;78;p16"/>
          <p:cNvPicPr preferRelativeResize="0"/>
          <p:nvPr/>
        </p:nvPicPr>
        <p:blipFill>
          <a:blip r:embed="rId3">
            <a:alphaModFix/>
          </a:blip>
          <a:stretch>
            <a:fillRect/>
          </a:stretch>
        </p:blipFill>
        <p:spPr>
          <a:xfrm>
            <a:off x="690895" y="78150"/>
            <a:ext cx="7579430" cy="3416400"/>
          </a:xfrm>
          <a:prstGeom prst="rect">
            <a:avLst/>
          </a:prstGeom>
          <a:noFill/>
          <a:ln>
            <a:noFill/>
          </a:ln>
        </p:spPr>
      </p:pic>
      <p:pic>
        <p:nvPicPr>
          <p:cNvPr id="79" name="Google Shape;79;p16"/>
          <p:cNvPicPr preferRelativeResize="0"/>
          <p:nvPr/>
        </p:nvPicPr>
        <p:blipFill>
          <a:blip r:embed="rId4">
            <a:alphaModFix/>
          </a:blip>
          <a:stretch>
            <a:fillRect/>
          </a:stretch>
        </p:blipFill>
        <p:spPr>
          <a:xfrm>
            <a:off x="180088" y="3773275"/>
            <a:ext cx="8783800" cy="11345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1221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5" name="Google Shape;85;p17"/>
          <p:cNvSpPr txBox="1"/>
          <p:nvPr>
            <p:ph idx="1" type="body"/>
          </p:nvPr>
        </p:nvSpPr>
        <p:spPr>
          <a:xfrm>
            <a:off x="311700" y="3078650"/>
            <a:ext cx="8520600" cy="1471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ru">
                <a:solidFill>
                  <a:schemeClr val="dk1"/>
                </a:solidFill>
              </a:rPr>
              <a:t>Черный - исходные данные</a:t>
            </a:r>
            <a:endParaRPr b="1">
              <a:solidFill>
                <a:schemeClr val="dk1"/>
              </a:solidFill>
            </a:endParaRPr>
          </a:p>
          <a:p>
            <a:pPr indent="0" lvl="0" marL="0" rtl="0" algn="l">
              <a:spcBef>
                <a:spcPts val="1200"/>
              </a:spcBef>
              <a:spcAft>
                <a:spcPts val="0"/>
              </a:spcAft>
              <a:buNone/>
            </a:pPr>
            <a:r>
              <a:rPr b="1" lang="ru">
                <a:solidFill>
                  <a:srgbClr val="6AA84F"/>
                </a:solidFill>
              </a:rPr>
              <a:t>Зеленый - сгенерированные данные</a:t>
            </a:r>
            <a:endParaRPr b="1">
              <a:solidFill>
                <a:srgbClr val="6AA84F"/>
              </a:solidFill>
            </a:endParaRPr>
          </a:p>
          <a:p>
            <a:pPr indent="0" lvl="0" marL="0" rtl="0" algn="l">
              <a:spcBef>
                <a:spcPts val="1200"/>
              </a:spcBef>
              <a:spcAft>
                <a:spcPts val="1200"/>
              </a:spcAft>
              <a:buNone/>
            </a:pPr>
            <a:r>
              <a:rPr b="1" lang="ru">
                <a:solidFill>
                  <a:srgbClr val="3C78D8"/>
                </a:solidFill>
              </a:rPr>
              <a:t>Синий - дискриминирующее распределение</a:t>
            </a:r>
            <a:endParaRPr b="1">
              <a:solidFill>
                <a:srgbClr val="3C78D8"/>
              </a:solidFill>
            </a:endParaRPr>
          </a:p>
        </p:txBody>
      </p:sp>
      <p:pic>
        <p:nvPicPr>
          <p:cNvPr id="86" name="Google Shape;86;p17"/>
          <p:cNvPicPr preferRelativeResize="0"/>
          <p:nvPr/>
        </p:nvPicPr>
        <p:blipFill>
          <a:blip r:embed="rId3">
            <a:alphaModFix/>
          </a:blip>
          <a:stretch>
            <a:fillRect/>
          </a:stretch>
        </p:blipFill>
        <p:spPr>
          <a:xfrm>
            <a:off x="0" y="122095"/>
            <a:ext cx="9144000" cy="295656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2" name="Google Shape;92;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3" name="Google Shape;93;p18"/>
          <p:cNvPicPr preferRelativeResize="0"/>
          <p:nvPr/>
        </p:nvPicPr>
        <p:blipFill>
          <a:blip r:embed="rId3">
            <a:alphaModFix/>
          </a:blip>
          <a:stretch>
            <a:fillRect/>
          </a:stretch>
        </p:blipFill>
        <p:spPr>
          <a:xfrm>
            <a:off x="690895" y="78150"/>
            <a:ext cx="7579430" cy="3416400"/>
          </a:xfrm>
          <a:prstGeom prst="rect">
            <a:avLst/>
          </a:prstGeom>
          <a:noFill/>
          <a:ln>
            <a:noFill/>
          </a:ln>
        </p:spPr>
      </p:pic>
      <p:pic>
        <p:nvPicPr>
          <p:cNvPr id="94" name="Google Shape;94;p18"/>
          <p:cNvPicPr preferRelativeResize="0"/>
          <p:nvPr/>
        </p:nvPicPr>
        <p:blipFill>
          <a:blip r:embed="rId4">
            <a:alphaModFix/>
          </a:blip>
          <a:stretch>
            <a:fillRect/>
          </a:stretch>
        </p:blipFill>
        <p:spPr>
          <a:xfrm>
            <a:off x="989688" y="3818800"/>
            <a:ext cx="6981825" cy="647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Проблемы с обучением</a:t>
            </a:r>
            <a:endParaRPr/>
          </a:p>
        </p:txBody>
      </p:sp>
      <p:sp>
        <p:nvSpPr>
          <p:cNvPr id="100" name="Google Shape;100;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ru">
                <a:solidFill>
                  <a:schemeClr val="dk1"/>
                </a:solidFill>
              </a:rPr>
              <a:t>Collapse mode - генератор, пытаясь обмануть дискриминатор, генерирует ограниченный набор данных.</a:t>
            </a:r>
            <a:endParaRPr>
              <a:solidFill>
                <a:schemeClr val="dk1"/>
              </a:solidFill>
            </a:endParaRPr>
          </a:p>
        </p:txBody>
      </p:sp>
      <p:pic>
        <p:nvPicPr>
          <p:cNvPr id="101" name="Google Shape;101;p19"/>
          <p:cNvPicPr preferRelativeResize="0"/>
          <p:nvPr/>
        </p:nvPicPr>
        <p:blipFill>
          <a:blip r:embed="rId3">
            <a:alphaModFix/>
          </a:blip>
          <a:stretch>
            <a:fillRect/>
          </a:stretch>
        </p:blipFill>
        <p:spPr>
          <a:xfrm>
            <a:off x="187313" y="2376525"/>
            <a:ext cx="8769374" cy="2192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Collapse mode</a:t>
            </a:r>
            <a:endParaRPr/>
          </a:p>
        </p:txBody>
      </p:sp>
      <p:sp>
        <p:nvSpPr>
          <p:cNvPr id="107" name="Google Shape;10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8" name="Google Shape;108;p20"/>
          <p:cNvPicPr preferRelativeResize="0"/>
          <p:nvPr/>
        </p:nvPicPr>
        <p:blipFill>
          <a:blip r:embed="rId3">
            <a:alphaModFix/>
          </a:blip>
          <a:stretch>
            <a:fillRect/>
          </a:stretch>
        </p:blipFill>
        <p:spPr>
          <a:xfrm>
            <a:off x="1238250" y="1152463"/>
            <a:ext cx="6667500" cy="35337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Применение в алгоритмической композиции</a:t>
            </a:r>
            <a:endParaRPr/>
          </a:p>
        </p:txBody>
      </p:sp>
      <p:sp>
        <p:nvSpPr>
          <p:cNvPr id="114" name="Google Shape;114;p21"/>
          <p:cNvSpPr txBox="1"/>
          <p:nvPr>
            <p:ph idx="1" type="body"/>
          </p:nvPr>
        </p:nvSpPr>
        <p:spPr>
          <a:xfrm>
            <a:off x="6507600" y="1066688"/>
            <a:ext cx="2324700" cy="38130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b="1" lang="ru">
                <a:solidFill>
                  <a:schemeClr val="dk1"/>
                </a:solidFill>
              </a:rPr>
              <a:t>C-RNN-GAN</a:t>
            </a:r>
            <a:r>
              <a:rPr lang="ru">
                <a:solidFill>
                  <a:schemeClr val="dk1"/>
                </a:solidFill>
              </a:rPr>
              <a:t> - генерация музыки на основе классических произведений. </a:t>
            </a:r>
            <a:endParaRPr>
              <a:solidFill>
                <a:schemeClr val="dk1"/>
              </a:solidFill>
            </a:endParaRPr>
          </a:p>
          <a:p>
            <a:pPr indent="0" lvl="0" marL="0" rtl="0" algn="l">
              <a:spcBef>
                <a:spcPts val="1200"/>
              </a:spcBef>
              <a:spcAft>
                <a:spcPts val="0"/>
              </a:spcAft>
              <a:buNone/>
            </a:pPr>
            <a:r>
              <a:rPr lang="ru">
                <a:solidFill>
                  <a:schemeClr val="dk1"/>
                </a:solidFill>
              </a:rPr>
              <a:t>Используются рекуррентные нейронные сети с длинной кратковременной памятью LSTM.</a:t>
            </a:r>
            <a:endParaRPr>
              <a:solidFill>
                <a:schemeClr val="dk1"/>
              </a:solidFill>
            </a:endParaRPr>
          </a:p>
          <a:p>
            <a:pPr indent="0" lvl="0" marL="0" rtl="0" algn="l">
              <a:spcBef>
                <a:spcPts val="1200"/>
              </a:spcBef>
              <a:spcAft>
                <a:spcPts val="1200"/>
              </a:spcAft>
              <a:buNone/>
            </a:pPr>
            <a:r>
              <a:rPr lang="ru">
                <a:solidFill>
                  <a:schemeClr val="dk1"/>
                </a:solidFill>
              </a:rPr>
              <a:t>Для генерации сигнала используются данные аналогично MIDI формату: тон, частота, интенсивность, время, прошедшее с момента предыдущего тона.</a:t>
            </a:r>
            <a:endParaRPr>
              <a:solidFill>
                <a:schemeClr val="dk1"/>
              </a:solidFill>
            </a:endParaRPr>
          </a:p>
        </p:txBody>
      </p:sp>
      <p:pic>
        <p:nvPicPr>
          <p:cNvPr id="115" name="Google Shape;115;p21"/>
          <p:cNvPicPr preferRelativeResize="0"/>
          <p:nvPr/>
        </p:nvPicPr>
        <p:blipFill>
          <a:blip r:embed="rId3">
            <a:alphaModFix/>
          </a:blip>
          <a:stretch>
            <a:fillRect/>
          </a:stretch>
        </p:blipFill>
        <p:spPr>
          <a:xfrm>
            <a:off x="311692" y="910300"/>
            <a:ext cx="5893958" cy="4125775"/>
          </a:xfrm>
          <a:prstGeom prst="rect">
            <a:avLst/>
          </a:prstGeom>
          <a:noFill/>
          <a:ln>
            <a:noFill/>
          </a:ln>
        </p:spPr>
      </p:pic>
      <p:pic>
        <p:nvPicPr>
          <p:cNvPr id="116" name="Google Shape;116;p21" title="c-rnn-gan-sample11.mp3">
            <a:hlinkClick r:id="rId4"/>
          </p:cNvPr>
          <p:cNvPicPr preferRelativeResize="0"/>
          <p:nvPr/>
        </p:nvPicPr>
        <p:blipFill>
          <a:blip r:embed="rId5">
            <a:alphaModFix/>
          </a:blip>
          <a:stretch>
            <a:fillRect/>
          </a:stretch>
        </p:blipFill>
        <p:spPr>
          <a:xfrm>
            <a:off x="7753400" y="313125"/>
            <a:ext cx="457200" cy="457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2" name="Google Shape;122;p22"/>
          <p:cNvSpPr txBox="1"/>
          <p:nvPr>
            <p:ph idx="1" type="body"/>
          </p:nvPr>
        </p:nvSpPr>
        <p:spPr>
          <a:xfrm>
            <a:off x="280400" y="2870150"/>
            <a:ext cx="8721600" cy="1876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rPr lang="ru">
                <a:solidFill>
                  <a:schemeClr val="dk1"/>
                </a:solidFill>
              </a:rPr>
              <a:t>Система генерации музыки </a:t>
            </a:r>
            <a:r>
              <a:rPr b="1" lang="ru">
                <a:solidFill>
                  <a:schemeClr val="dk1"/>
                </a:solidFill>
              </a:rPr>
              <a:t>MUSIKA</a:t>
            </a:r>
            <a:r>
              <a:rPr lang="ru">
                <a:solidFill>
                  <a:schemeClr val="dk1"/>
                </a:solidFill>
              </a:rPr>
              <a:t> - использует двухуровневый аудиоавтокодер для преобразования спектрограммы в более компактный формат. Далее обучается GAN. Использует систему координат скрытого пространства для генерации произвольно длинных последовательностей музыкальных фрагментов параллельно. Для сохранения стилистической согласованности музыки во времени используется глобальный вектор контекста. При обучении дискриминатора используется gradient penalty regularization.</a:t>
            </a:r>
            <a:endParaRPr>
              <a:solidFill>
                <a:schemeClr val="dk1"/>
              </a:solidFill>
            </a:endParaRPr>
          </a:p>
        </p:txBody>
      </p:sp>
      <p:pic>
        <p:nvPicPr>
          <p:cNvPr id="123" name="Google Shape;123;p22"/>
          <p:cNvPicPr preferRelativeResize="0"/>
          <p:nvPr/>
        </p:nvPicPr>
        <p:blipFill>
          <a:blip r:embed="rId3">
            <a:alphaModFix/>
          </a:blip>
          <a:stretch>
            <a:fillRect/>
          </a:stretch>
        </p:blipFill>
        <p:spPr>
          <a:xfrm>
            <a:off x="69200" y="174408"/>
            <a:ext cx="9143999" cy="269573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129" name="Google Shape;129;p23"/>
          <p:cNvPicPr preferRelativeResize="0"/>
          <p:nvPr/>
        </p:nvPicPr>
        <p:blipFill>
          <a:blip r:embed="rId3">
            <a:alphaModFix/>
          </a:blip>
          <a:stretch>
            <a:fillRect/>
          </a:stretch>
        </p:blipFill>
        <p:spPr>
          <a:xfrm>
            <a:off x="263675" y="232925"/>
            <a:ext cx="8362950" cy="2647950"/>
          </a:xfrm>
          <a:prstGeom prst="rect">
            <a:avLst/>
          </a:prstGeom>
          <a:noFill/>
          <a:ln>
            <a:noFill/>
          </a:ln>
        </p:spPr>
      </p:pic>
      <p:sp>
        <p:nvSpPr>
          <p:cNvPr id="130" name="Google Shape;130;p23"/>
          <p:cNvSpPr txBox="1"/>
          <p:nvPr>
            <p:ph idx="1" type="body"/>
          </p:nvPr>
        </p:nvSpPr>
        <p:spPr>
          <a:xfrm>
            <a:off x="311700" y="2728200"/>
            <a:ext cx="8652300" cy="2283300"/>
          </a:xfrm>
          <a:prstGeom prst="rect">
            <a:avLst/>
          </a:prstGeom>
        </p:spPr>
        <p:txBody>
          <a:bodyPr anchorCtr="0" anchor="t" bIns="91425" lIns="91425" spcFirstLastPara="1" rIns="91425" wrap="square" tIns="91425">
            <a:normAutofit fontScale="77500"/>
          </a:bodyPr>
          <a:lstStyle/>
          <a:p>
            <a:pPr indent="0" lvl="0" marL="0" rtl="0" algn="l">
              <a:spcBef>
                <a:spcPts val="0"/>
              </a:spcBef>
              <a:spcAft>
                <a:spcPts val="0"/>
              </a:spcAft>
              <a:buNone/>
            </a:pPr>
            <a:r>
              <a:rPr lang="ru">
                <a:solidFill>
                  <a:schemeClr val="dk1"/>
                </a:solidFill>
              </a:rPr>
              <a:t>Z</a:t>
            </a:r>
            <a:r>
              <a:rPr baseline="-25000" lang="ru">
                <a:solidFill>
                  <a:schemeClr val="dk1"/>
                </a:solidFill>
              </a:rPr>
              <a:t>sty  </a:t>
            </a:r>
            <a:r>
              <a:rPr lang="ru">
                <a:solidFill>
                  <a:schemeClr val="dk1"/>
                </a:solidFill>
              </a:rPr>
              <a:t>- стилистический вектор.</a:t>
            </a:r>
            <a:endParaRPr>
              <a:solidFill>
                <a:schemeClr val="dk1"/>
              </a:solidFill>
            </a:endParaRPr>
          </a:p>
          <a:p>
            <a:pPr indent="0" lvl="0" marL="0" rtl="0" algn="l">
              <a:spcBef>
                <a:spcPts val="1200"/>
              </a:spcBef>
              <a:spcAft>
                <a:spcPts val="0"/>
              </a:spcAft>
              <a:buNone/>
            </a:pPr>
            <a:r>
              <a:rPr lang="ru">
                <a:solidFill>
                  <a:schemeClr val="dk1"/>
                </a:solidFill>
              </a:rPr>
              <a:t>w</a:t>
            </a:r>
            <a:r>
              <a:rPr baseline="-25000" lang="ru">
                <a:solidFill>
                  <a:schemeClr val="dk1"/>
                </a:solidFill>
              </a:rPr>
              <a:t>l</a:t>
            </a:r>
            <a:r>
              <a:rPr lang="ru">
                <a:solidFill>
                  <a:schemeClr val="dk1"/>
                </a:solidFill>
              </a:rPr>
              <a:t>, w</a:t>
            </a:r>
            <a:r>
              <a:rPr baseline="-25000" lang="ru">
                <a:solidFill>
                  <a:schemeClr val="dk1"/>
                </a:solidFill>
              </a:rPr>
              <a:t>c</a:t>
            </a:r>
            <a:r>
              <a:rPr lang="ru">
                <a:solidFill>
                  <a:schemeClr val="dk1"/>
                </a:solidFill>
              </a:rPr>
              <a:t>, w</a:t>
            </a:r>
            <a:r>
              <a:rPr baseline="-25000" lang="ru">
                <a:solidFill>
                  <a:schemeClr val="dk1"/>
                </a:solidFill>
              </a:rPr>
              <a:t>r</a:t>
            </a:r>
            <a:r>
              <a:rPr lang="ru">
                <a:solidFill>
                  <a:schemeClr val="dk1"/>
                </a:solidFill>
              </a:rPr>
              <a:t> - случайно выбранные опорные вектора, на их основе генерируется последовательность.</a:t>
            </a:r>
            <a:endParaRPr>
              <a:solidFill>
                <a:schemeClr val="dk1"/>
              </a:solidFill>
            </a:endParaRPr>
          </a:p>
          <a:p>
            <a:pPr indent="0" lvl="0" marL="0" rtl="0" algn="l">
              <a:spcBef>
                <a:spcPts val="1200"/>
              </a:spcBef>
              <a:spcAft>
                <a:spcPts val="0"/>
              </a:spcAft>
              <a:buNone/>
            </a:pPr>
            <a:r>
              <a:rPr lang="ru">
                <a:solidFill>
                  <a:schemeClr val="dk1"/>
                </a:solidFill>
              </a:rPr>
              <a:t>W</a:t>
            </a:r>
            <a:r>
              <a:rPr baseline="-25000" lang="ru">
                <a:solidFill>
                  <a:schemeClr val="dk1"/>
                </a:solidFill>
              </a:rPr>
              <a:t>1</a:t>
            </a:r>
            <a:r>
              <a:rPr lang="ru">
                <a:solidFill>
                  <a:schemeClr val="dk1"/>
                </a:solidFill>
              </a:rPr>
              <a:t>, W</a:t>
            </a:r>
            <a:r>
              <a:rPr baseline="-25000" lang="ru">
                <a:solidFill>
                  <a:schemeClr val="dk1"/>
                </a:solidFill>
              </a:rPr>
              <a:t>2</a:t>
            </a:r>
            <a:r>
              <a:rPr lang="ru">
                <a:solidFill>
                  <a:schemeClr val="dk1"/>
                </a:solidFill>
              </a:rPr>
              <a:t> - случайным образом выбираем из w пару w12 координатных векторов для генерации. Можно менять длину векторов, соответственно меняя длину генерируемого сигнала.</a:t>
            </a:r>
            <a:endParaRPr>
              <a:solidFill>
                <a:schemeClr val="dk1"/>
              </a:solidFill>
            </a:endParaRPr>
          </a:p>
          <a:p>
            <a:pPr indent="0" lvl="0" marL="0" rtl="0" algn="l">
              <a:spcBef>
                <a:spcPts val="1200"/>
              </a:spcBef>
              <a:spcAft>
                <a:spcPts val="0"/>
              </a:spcAft>
              <a:buNone/>
            </a:pPr>
            <a:r>
              <a:t/>
            </a:r>
            <a:endParaRPr/>
          </a:p>
          <a:p>
            <a:pPr indent="0" lvl="0" marL="0" rtl="0" algn="l">
              <a:spcBef>
                <a:spcPts val="1200"/>
              </a:spcBef>
              <a:spcAft>
                <a:spcPts val="1200"/>
              </a:spcAft>
              <a:buClr>
                <a:schemeClr val="dk1"/>
              </a:buClr>
              <a:buSzPct val="61111"/>
              <a:buFont typeface="Arial"/>
              <a:buNone/>
            </a:pPr>
            <a:r>
              <a:t/>
            </a:r>
            <a:endParaRPr baseline="-25000"/>
          </a:p>
        </p:txBody>
      </p:sp>
      <p:pic>
        <p:nvPicPr>
          <p:cNvPr id="131" name="Google Shape;131;p23"/>
          <p:cNvPicPr preferRelativeResize="0"/>
          <p:nvPr/>
        </p:nvPicPr>
        <p:blipFill>
          <a:blip r:embed="rId4">
            <a:alphaModFix/>
          </a:blip>
          <a:stretch>
            <a:fillRect/>
          </a:stretch>
        </p:blipFill>
        <p:spPr>
          <a:xfrm>
            <a:off x="311700" y="4090050"/>
            <a:ext cx="5543550" cy="7048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