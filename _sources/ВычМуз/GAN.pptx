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cc0847f7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cc0847f7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cc0847f7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cc0847f72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c09f32dc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c09f32dc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c0847f72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c0847f72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c09f32dc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c09f32dc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c09f32dc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c09f32d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c09f32dc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cc09f32dc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c09f32d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cc09f32d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c09f32dc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c09f32d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cc09f32dc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cc09f32dc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f59759198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f59759198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hyperlink" Target="http://drive.google.com/file/d/1wgstmVQkt_Wjk70Zjcb4v3OkZkqlPeCR/view" TargetMode="Externa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QBl8y2Z_i7Y" TargetMode="Externa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388075" y="1844775"/>
            <a:ext cx="8520600" cy="705600"/>
          </a:xfrm>
          <a:prstGeom prst="roundRect">
            <a:avLst>
              <a:gd fmla="val 16667" name="adj"/>
            </a:avLst>
          </a:prstGeom>
          <a:solidFill>
            <a:srgbClr val="59ADAD">
              <a:alpha val="29560"/>
            </a:srgbClr>
          </a:solidFill>
          <a:ln cap="flat" cmpd="sng" w="9525">
            <a:solidFill>
              <a:schemeClr val="lt2"/>
            </a:solidFill>
            <a:prstDash val="solid"/>
            <a:round/>
            <a:headEnd len="sm" w="sm" type="none"/>
            <a:tailEnd len="sm" w="sm" type="none"/>
          </a:ln>
          <a:effectLst>
            <a:outerShdw blurRad="57150" rotWithShape="0" algn="bl" dir="5400000" dist="19050">
              <a:srgbClr val="000000">
                <a:alpha val="3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88075" y="1774800"/>
            <a:ext cx="8520600" cy="684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ru" sz="3250">
                <a:solidFill>
                  <a:srgbClr val="032A37"/>
                </a:solidFill>
              </a:rPr>
              <a:t>Генеративно-состязательные сети(GAN)</a:t>
            </a:r>
            <a:endParaRPr sz="3650">
              <a:solidFill>
                <a:srgbClr val="032A37"/>
              </a:solidFill>
            </a:endParaRPr>
          </a:p>
        </p:txBody>
      </p:sp>
      <p:sp>
        <p:nvSpPr>
          <p:cNvPr id="56" name="Google Shape;56;p13"/>
          <p:cNvSpPr txBox="1"/>
          <p:nvPr/>
        </p:nvSpPr>
        <p:spPr>
          <a:xfrm>
            <a:off x="336475" y="1774800"/>
            <a:ext cx="8698500" cy="6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3250">
                <a:solidFill>
                  <a:srgbClr val="EEEEEE"/>
                </a:solidFill>
              </a:rPr>
              <a:t>Генеративно-состязательные сети(GAN)</a:t>
            </a:r>
            <a:endParaRPr>
              <a:solidFill>
                <a:srgbClr val="EEEEE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3667525"/>
            <a:ext cx="8520600" cy="1074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ru">
                <a:solidFill>
                  <a:schemeClr val="dk1"/>
                </a:solidFill>
              </a:rPr>
              <a:t>Дискриминатор стремится выдавать на Fake 0, на Real 1</a:t>
            </a:r>
            <a:endParaRPr>
              <a:solidFill>
                <a:schemeClr val="dk1"/>
              </a:solidFill>
            </a:endParaRPr>
          </a:p>
          <a:p>
            <a:pPr indent="-342900" lvl="0" marL="457200" rtl="0" algn="l">
              <a:spcBef>
                <a:spcPts val="0"/>
              </a:spcBef>
              <a:spcAft>
                <a:spcPts val="0"/>
              </a:spcAft>
              <a:buClr>
                <a:schemeClr val="dk1"/>
              </a:buClr>
              <a:buSzPts val="1800"/>
              <a:buAutoNum type="arabicPeriod"/>
            </a:pPr>
            <a:r>
              <a:rPr lang="ru">
                <a:solidFill>
                  <a:schemeClr val="dk1"/>
                </a:solidFill>
              </a:rPr>
              <a:t>Генератор стремится, чтобы дискриминатор выдавал на Fake 1</a:t>
            </a:r>
            <a:endParaRPr>
              <a:solidFill>
                <a:schemeClr val="dk1"/>
              </a:solidFill>
            </a:endParaRPr>
          </a:p>
        </p:txBody>
      </p:sp>
      <p:pic>
        <p:nvPicPr>
          <p:cNvPr id="63" name="Google Shape;63;p14"/>
          <p:cNvPicPr preferRelativeResize="0"/>
          <p:nvPr/>
        </p:nvPicPr>
        <p:blipFill>
          <a:blip r:embed="rId3">
            <a:alphaModFix/>
          </a:blip>
          <a:stretch>
            <a:fillRect/>
          </a:stretch>
        </p:blipFill>
        <p:spPr>
          <a:xfrm>
            <a:off x="690895" y="78150"/>
            <a:ext cx="7579430" cy="3416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История создания и концепция</a:t>
            </a:r>
            <a:endParaRPr/>
          </a:p>
        </p:txBody>
      </p:sp>
      <p:sp>
        <p:nvSpPr>
          <p:cNvPr id="69" name="Google Shape;69;p15"/>
          <p:cNvSpPr txBox="1"/>
          <p:nvPr>
            <p:ph idx="1" type="body"/>
          </p:nvPr>
        </p:nvSpPr>
        <p:spPr>
          <a:xfrm>
            <a:off x="311700" y="1152475"/>
            <a:ext cx="5850000" cy="3416400"/>
          </a:xfrm>
          <a:prstGeom prst="rect">
            <a:avLst/>
          </a:prstGeom>
        </p:spPr>
        <p:txBody>
          <a:bodyPr anchorCtr="0" anchor="t" bIns="91425" lIns="91425" spcFirstLastPara="1" rIns="91425" wrap="square" tIns="91425">
            <a:normAutofit/>
          </a:bodyPr>
          <a:lstStyle/>
          <a:p>
            <a:pPr indent="-317500" lvl="0" marL="457200" rtl="0" algn="just">
              <a:lnSpc>
                <a:spcPct val="150000"/>
              </a:lnSpc>
              <a:spcBef>
                <a:spcPts val="0"/>
              </a:spcBef>
              <a:spcAft>
                <a:spcPts val="0"/>
              </a:spcAft>
              <a:buClr>
                <a:schemeClr val="dk1"/>
              </a:buClr>
              <a:buSzPts val="1400"/>
              <a:buChar char="●"/>
            </a:pPr>
            <a:r>
              <a:rPr lang="ru" sz="1400">
                <a:solidFill>
                  <a:schemeClr val="dk1"/>
                </a:solidFill>
              </a:rPr>
              <a:t>Проблема плохого качества сгенерированного изображения</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ru" sz="1400">
                <a:solidFill>
                  <a:schemeClr val="dk1"/>
                </a:solidFill>
              </a:rPr>
              <a:t>Ян Гудфеллоу - 2014 год</a:t>
            </a:r>
            <a:endParaRPr sz="1400">
              <a:solidFill>
                <a:schemeClr val="dk1"/>
              </a:solidFill>
              <a:highlight>
                <a:srgbClr val="FFFFFF"/>
              </a:highlight>
            </a:endParaRPr>
          </a:p>
          <a:p>
            <a:pPr indent="-317500" lvl="0" marL="457200" rtl="0" algn="just">
              <a:lnSpc>
                <a:spcPct val="150000"/>
              </a:lnSpc>
              <a:spcBef>
                <a:spcPts val="0"/>
              </a:spcBef>
              <a:spcAft>
                <a:spcPts val="0"/>
              </a:spcAft>
              <a:buClr>
                <a:schemeClr val="dk1"/>
              </a:buClr>
              <a:buSzPts val="1400"/>
              <a:buChar char="●"/>
            </a:pPr>
            <a:r>
              <a:rPr lang="ru" sz="1400">
                <a:solidFill>
                  <a:schemeClr val="dk1"/>
                </a:solidFill>
                <a:highlight>
                  <a:srgbClr val="FFFFFF"/>
                </a:highlight>
              </a:rPr>
              <a:t>Комбинация из двух нейронных сетей</a:t>
            </a:r>
            <a:r>
              <a:rPr lang="ru" sz="1400">
                <a:solidFill>
                  <a:schemeClr val="dk1"/>
                </a:solidFill>
              </a:rPr>
              <a:t>: г</a:t>
            </a:r>
            <a:r>
              <a:rPr lang="ru" sz="1400">
                <a:solidFill>
                  <a:schemeClr val="dk1"/>
                </a:solidFill>
                <a:highlight>
                  <a:srgbClr val="FFFFFF"/>
                </a:highlight>
              </a:rPr>
              <a:t>енеративная модель G, дискриминативная модель D</a:t>
            </a:r>
            <a:endParaRPr sz="1400">
              <a:solidFill>
                <a:schemeClr val="dk1"/>
              </a:solidFill>
              <a:highlight>
                <a:srgbClr val="FFFFFF"/>
              </a:highlight>
            </a:endParaRPr>
          </a:p>
        </p:txBody>
      </p:sp>
      <p:pic>
        <p:nvPicPr>
          <p:cNvPr id="70" name="Google Shape;70;p15"/>
          <p:cNvPicPr preferRelativeResize="0"/>
          <p:nvPr/>
        </p:nvPicPr>
        <p:blipFill>
          <a:blip r:embed="rId3">
            <a:alphaModFix/>
          </a:blip>
          <a:stretch>
            <a:fillRect/>
          </a:stretch>
        </p:blipFill>
        <p:spPr>
          <a:xfrm>
            <a:off x="507750" y="2571750"/>
            <a:ext cx="7176225" cy="1877950"/>
          </a:xfrm>
          <a:prstGeom prst="rect">
            <a:avLst/>
          </a:prstGeom>
          <a:noFill/>
          <a:ln>
            <a:noFill/>
          </a:ln>
        </p:spPr>
      </p:pic>
      <p:pic>
        <p:nvPicPr>
          <p:cNvPr id="71" name="Google Shape;71;p15"/>
          <p:cNvPicPr preferRelativeResize="0"/>
          <p:nvPr/>
        </p:nvPicPr>
        <p:blipFill rotWithShape="1">
          <a:blip r:embed="rId4">
            <a:alphaModFix/>
          </a:blip>
          <a:srcRect b="0" l="31293" r="33586" t="0"/>
          <a:stretch/>
        </p:blipFill>
        <p:spPr>
          <a:xfrm>
            <a:off x="7095800" y="242175"/>
            <a:ext cx="1556849" cy="2489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7" name="Google Shape;77;p16"/>
          <p:cNvSpPr txBox="1"/>
          <p:nvPr>
            <p:ph idx="1" type="body"/>
          </p:nvPr>
        </p:nvSpPr>
        <p:spPr>
          <a:xfrm>
            <a:off x="311700" y="3644450"/>
            <a:ext cx="8520600" cy="10743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p>
        </p:txBody>
      </p:sp>
      <p:pic>
        <p:nvPicPr>
          <p:cNvPr id="78" name="Google Shape;78;p16"/>
          <p:cNvPicPr preferRelativeResize="0"/>
          <p:nvPr/>
        </p:nvPicPr>
        <p:blipFill>
          <a:blip r:embed="rId3">
            <a:alphaModFix/>
          </a:blip>
          <a:stretch>
            <a:fillRect/>
          </a:stretch>
        </p:blipFill>
        <p:spPr>
          <a:xfrm>
            <a:off x="690895" y="78150"/>
            <a:ext cx="7579430" cy="3416400"/>
          </a:xfrm>
          <a:prstGeom prst="rect">
            <a:avLst/>
          </a:prstGeom>
          <a:noFill/>
          <a:ln>
            <a:noFill/>
          </a:ln>
        </p:spPr>
      </p:pic>
      <p:pic>
        <p:nvPicPr>
          <p:cNvPr id="79" name="Google Shape;79;p16"/>
          <p:cNvPicPr preferRelativeResize="0"/>
          <p:nvPr/>
        </p:nvPicPr>
        <p:blipFill>
          <a:blip r:embed="rId4">
            <a:alphaModFix/>
          </a:blip>
          <a:stretch>
            <a:fillRect/>
          </a:stretch>
        </p:blipFill>
        <p:spPr>
          <a:xfrm>
            <a:off x="180088" y="3773275"/>
            <a:ext cx="8783800" cy="1134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122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7"/>
          <p:cNvSpPr txBox="1"/>
          <p:nvPr>
            <p:ph idx="1" type="body"/>
          </p:nvPr>
        </p:nvSpPr>
        <p:spPr>
          <a:xfrm>
            <a:off x="311700" y="3078650"/>
            <a:ext cx="8520600" cy="147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ru">
                <a:solidFill>
                  <a:schemeClr val="dk1"/>
                </a:solidFill>
              </a:rPr>
              <a:t>Черный - исходные данные</a:t>
            </a:r>
            <a:endParaRPr b="1">
              <a:solidFill>
                <a:schemeClr val="dk1"/>
              </a:solidFill>
            </a:endParaRPr>
          </a:p>
          <a:p>
            <a:pPr indent="0" lvl="0" marL="0" rtl="0" algn="l">
              <a:spcBef>
                <a:spcPts val="1200"/>
              </a:spcBef>
              <a:spcAft>
                <a:spcPts val="0"/>
              </a:spcAft>
              <a:buNone/>
            </a:pPr>
            <a:r>
              <a:rPr b="1" lang="ru">
                <a:solidFill>
                  <a:srgbClr val="6AA84F"/>
                </a:solidFill>
              </a:rPr>
              <a:t>Зеленый - сгенерированные данные</a:t>
            </a:r>
            <a:endParaRPr b="1">
              <a:solidFill>
                <a:srgbClr val="6AA84F"/>
              </a:solidFill>
            </a:endParaRPr>
          </a:p>
          <a:p>
            <a:pPr indent="0" lvl="0" marL="0" rtl="0" algn="l">
              <a:spcBef>
                <a:spcPts val="1200"/>
              </a:spcBef>
              <a:spcAft>
                <a:spcPts val="1200"/>
              </a:spcAft>
              <a:buNone/>
            </a:pPr>
            <a:r>
              <a:rPr b="1" lang="ru">
                <a:solidFill>
                  <a:srgbClr val="3C78D8"/>
                </a:solidFill>
              </a:rPr>
              <a:t>Синий - дискриминирующее распределение</a:t>
            </a:r>
            <a:endParaRPr b="1">
              <a:solidFill>
                <a:srgbClr val="3C78D8"/>
              </a:solidFill>
            </a:endParaRPr>
          </a:p>
        </p:txBody>
      </p:sp>
      <p:pic>
        <p:nvPicPr>
          <p:cNvPr id="86" name="Google Shape;86;p17"/>
          <p:cNvPicPr preferRelativeResize="0"/>
          <p:nvPr/>
        </p:nvPicPr>
        <p:blipFill>
          <a:blip r:embed="rId3">
            <a:alphaModFix/>
          </a:blip>
          <a:stretch>
            <a:fillRect/>
          </a:stretch>
        </p:blipFill>
        <p:spPr>
          <a:xfrm>
            <a:off x="0" y="122095"/>
            <a:ext cx="9144000" cy="29565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Проблемы с обучением</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Collapse mode - генератор, пытаясь обмануть дискриминатор, генерирует ограниченный набор данных.</a:t>
            </a:r>
            <a:endParaRPr>
              <a:solidFill>
                <a:schemeClr val="dk1"/>
              </a:solidFill>
            </a:endParaRPr>
          </a:p>
        </p:txBody>
      </p:sp>
      <p:pic>
        <p:nvPicPr>
          <p:cNvPr id="93" name="Google Shape;93;p18"/>
          <p:cNvPicPr preferRelativeResize="0"/>
          <p:nvPr/>
        </p:nvPicPr>
        <p:blipFill>
          <a:blip r:embed="rId3">
            <a:alphaModFix/>
          </a:blip>
          <a:stretch>
            <a:fillRect/>
          </a:stretch>
        </p:blipFill>
        <p:spPr>
          <a:xfrm>
            <a:off x="187313" y="2376525"/>
            <a:ext cx="8769374" cy="2192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19"/>
          <p:cNvPicPr preferRelativeResize="0"/>
          <p:nvPr/>
        </p:nvPicPr>
        <p:blipFill>
          <a:blip r:embed="rId3">
            <a:alphaModFix/>
          </a:blip>
          <a:stretch>
            <a:fillRect/>
          </a:stretch>
        </p:blipFill>
        <p:spPr>
          <a:xfrm>
            <a:off x="690895" y="78150"/>
            <a:ext cx="7579430" cy="3416400"/>
          </a:xfrm>
          <a:prstGeom prst="rect">
            <a:avLst/>
          </a:prstGeom>
          <a:noFill/>
          <a:ln>
            <a:noFill/>
          </a:ln>
        </p:spPr>
      </p:pic>
      <p:pic>
        <p:nvPicPr>
          <p:cNvPr id="101" name="Google Shape;101;p19"/>
          <p:cNvPicPr preferRelativeResize="0"/>
          <p:nvPr/>
        </p:nvPicPr>
        <p:blipFill>
          <a:blip r:embed="rId4">
            <a:alphaModFix/>
          </a:blip>
          <a:stretch>
            <a:fillRect/>
          </a:stretch>
        </p:blipFill>
        <p:spPr>
          <a:xfrm>
            <a:off x="989688" y="3818800"/>
            <a:ext cx="6981825" cy="647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Collapse mode</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0"/>
          <p:cNvPicPr preferRelativeResize="0"/>
          <p:nvPr/>
        </p:nvPicPr>
        <p:blipFill>
          <a:blip r:embed="rId3">
            <a:alphaModFix/>
          </a:blip>
          <a:stretch>
            <a:fillRect/>
          </a:stretch>
        </p:blipFill>
        <p:spPr>
          <a:xfrm>
            <a:off x="1238250" y="1152463"/>
            <a:ext cx="6667500" cy="3533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Применение в алгоритмической композиции</a:t>
            </a:r>
            <a:endParaRPr/>
          </a:p>
        </p:txBody>
      </p:sp>
      <p:sp>
        <p:nvSpPr>
          <p:cNvPr id="114" name="Google Shape;114;p21"/>
          <p:cNvSpPr txBox="1"/>
          <p:nvPr>
            <p:ph idx="1" type="body"/>
          </p:nvPr>
        </p:nvSpPr>
        <p:spPr>
          <a:xfrm>
            <a:off x="6507650" y="1152475"/>
            <a:ext cx="2324700" cy="3813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ru">
                <a:solidFill>
                  <a:schemeClr val="dk1"/>
                </a:solidFill>
              </a:rPr>
              <a:t>C-RNN-GAN</a:t>
            </a:r>
            <a:r>
              <a:rPr lang="ru">
                <a:solidFill>
                  <a:schemeClr val="dk1"/>
                </a:solidFill>
              </a:rPr>
              <a:t> - генерация музыки на основе классических произведений. </a:t>
            </a:r>
            <a:endParaRPr>
              <a:solidFill>
                <a:schemeClr val="dk1"/>
              </a:solidFill>
            </a:endParaRPr>
          </a:p>
          <a:p>
            <a:pPr indent="0" lvl="0" marL="0" rtl="0" algn="l">
              <a:spcBef>
                <a:spcPts val="1200"/>
              </a:spcBef>
              <a:spcAft>
                <a:spcPts val="0"/>
              </a:spcAft>
              <a:buNone/>
            </a:pPr>
            <a:r>
              <a:rPr lang="ru">
                <a:solidFill>
                  <a:schemeClr val="dk1"/>
                </a:solidFill>
              </a:rPr>
              <a:t>Используются рекуррентные нейронные сети с длинной кратковременной памятью LSTM.</a:t>
            </a:r>
            <a:endParaRPr>
              <a:solidFill>
                <a:schemeClr val="dk1"/>
              </a:solidFill>
            </a:endParaRPr>
          </a:p>
          <a:p>
            <a:pPr indent="0" lvl="0" marL="0" rtl="0" algn="l">
              <a:spcBef>
                <a:spcPts val="1200"/>
              </a:spcBef>
              <a:spcAft>
                <a:spcPts val="1200"/>
              </a:spcAft>
              <a:buNone/>
            </a:pPr>
            <a:r>
              <a:rPr lang="ru">
                <a:solidFill>
                  <a:schemeClr val="dk1"/>
                </a:solidFill>
              </a:rPr>
              <a:t>Для генерации сигнала используются данные аналогично MIDI формату: тон, частота, интенсивность, время, прошедшее с момента предыдущего тона.</a:t>
            </a:r>
            <a:endParaRPr>
              <a:solidFill>
                <a:schemeClr val="dk1"/>
              </a:solidFill>
            </a:endParaRPr>
          </a:p>
        </p:txBody>
      </p:sp>
      <p:pic>
        <p:nvPicPr>
          <p:cNvPr id="115" name="Google Shape;115;p21"/>
          <p:cNvPicPr preferRelativeResize="0"/>
          <p:nvPr/>
        </p:nvPicPr>
        <p:blipFill>
          <a:blip r:embed="rId3">
            <a:alphaModFix/>
          </a:blip>
          <a:stretch>
            <a:fillRect/>
          </a:stretch>
        </p:blipFill>
        <p:spPr>
          <a:xfrm>
            <a:off x="311692" y="910300"/>
            <a:ext cx="5893958" cy="4125775"/>
          </a:xfrm>
          <a:prstGeom prst="rect">
            <a:avLst/>
          </a:prstGeom>
          <a:noFill/>
          <a:ln>
            <a:noFill/>
          </a:ln>
        </p:spPr>
      </p:pic>
      <p:pic>
        <p:nvPicPr>
          <p:cNvPr id="116" name="Google Shape;116;p21" title="c-rnn-gan-sample11.mp3">
            <a:hlinkClick r:id="rId4"/>
          </p:cNvPr>
          <p:cNvPicPr preferRelativeResize="0"/>
          <p:nvPr/>
        </p:nvPicPr>
        <p:blipFill>
          <a:blip r:embed="rId5">
            <a:alphaModFix/>
          </a:blip>
          <a:stretch>
            <a:fillRect/>
          </a:stretch>
        </p:blipFill>
        <p:spPr>
          <a:xfrm>
            <a:off x="7753400" y="313125"/>
            <a:ext cx="457200"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2" name="Google Shape;122;p22"/>
          <p:cNvSpPr txBox="1"/>
          <p:nvPr>
            <p:ph idx="1" type="body"/>
          </p:nvPr>
        </p:nvSpPr>
        <p:spPr>
          <a:xfrm>
            <a:off x="280400" y="2870150"/>
            <a:ext cx="8721600" cy="1876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ru">
                <a:solidFill>
                  <a:schemeClr val="dk1"/>
                </a:solidFill>
              </a:rPr>
              <a:t>Система генерации музыки </a:t>
            </a:r>
            <a:r>
              <a:rPr b="1" lang="ru">
                <a:solidFill>
                  <a:schemeClr val="dk1"/>
                </a:solidFill>
              </a:rPr>
              <a:t>MUSIKA</a:t>
            </a:r>
            <a:r>
              <a:rPr lang="ru">
                <a:solidFill>
                  <a:schemeClr val="dk1"/>
                </a:solidFill>
              </a:rPr>
              <a:t> - использует двухуровневый аудиоавтокодер для преобразования спектрограммы в более компактный формат. Далее обучается GAN. Использует систему координат скрытого пространства для генерации произвольно длинных последовательностей музыкальных фрагментов параллельно. Для сохранения стилистической согласованности музыки во времени используется глобальный вектор контекста. При обучении дискриминатора используется gradient penalty regularization.</a:t>
            </a:r>
            <a:endParaRPr>
              <a:solidFill>
                <a:schemeClr val="dk1"/>
              </a:solidFill>
            </a:endParaRPr>
          </a:p>
        </p:txBody>
      </p:sp>
      <p:pic>
        <p:nvPicPr>
          <p:cNvPr id="123" name="Google Shape;123;p22"/>
          <p:cNvPicPr preferRelativeResize="0"/>
          <p:nvPr/>
        </p:nvPicPr>
        <p:blipFill>
          <a:blip r:embed="rId3">
            <a:alphaModFix/>
          </a:blip>
          <a:stretch>
            <a:fillRect/>
          </a:stretch>
        </p:blipFill>
        <p:spPr>
          <a:xfrm>
            <a:off x="69200" y="174408"/>
            <a:ext cx="9143999" cy="26957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9" name="Google Shape;129;p23"/>
          <p:cNvPicPr preferRelativeResize="0"/>
          <p:nvPr/>
        </p:nvPicPr>
        <p:blipFill>
          <a:blip r:embed="rId3">
            <a:alphaModFix/>
          </a:blip>
          <a:stretch>
            <a:fillRect/>
          </a:stretch>
        </p:blipFill>
        <p:spPr>
          <a:xfrm>
            <a:off x="263675" y="232925"/>
            <a:ext cx="8362950" cy="2647950"/>
          </a:xfrm>
          <a:prstGeom prst="rect">
            <a:avLst/>
          </a:prstGeom>
          <a:noFill/>
          <a:ln>
            <a:noFill/>
          </a:ln>
        </p:spPr>
      </p:pic>
      <p:sp>
        <p:nvSpPr>
          <p:cNvPr id="130" name="Google Shape;130;p23"/>
          <p:cNvSpPr txBox="1"/>
          <p:nvPr>
            <p:ph idx="1" type="body"/>
          </p:nvPr>
        </p:nvSpPr>
        <p:spPr>
          <a:xfrm>
            <a:off x="311700" y="2728200"/>
            <a:ext cx="8652300" cy="22833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ru">
                <a:solidFill>
                  <a:schemeClr val="dk1"/>
                </a:solidFill>
              </a:rPr>
              <a:t>Z</a:t>
            </a:r>
            <a:r>
              <a:rPr baseline="-25000" lang="ru">
                <a:solidFill>
                  <a:schemeClr val="dk1"/>
                </a:solidFill>
              </a:rPr>
              <a:t>sty  </a:t>
            </a:r>
            <a:r>
              <a:rPr lang="ru">
                <a:solidFill>
                  <a:schemeClr val="dk1"/>
                </a:solidFill>
              </a:rPr>
              <a:t>- стилистический вектор.</a:t>
            </a:r>
            <a:endParaRPr>
              <a:solidFill>
                <a:schemeClr val="dk1"/>
              </a:solidFill>
            </a:endParaRPr>
          </a:p>
          <a:p>
            <a:pPr indent="0" lvl="0" marL="0" rtl="0" algn="l">
              <a:spcBef>
                <a:spcPts val="1200"/>
              </a:spcBef>
              <a:spcAft>
                <a:spcPts val="0"/>
              </a:spcAft>
              <a:buNone/>
            </a:pPr>
            <a:r>
              <a:rPr lang="ru">
                <a:solidFill>
                  <a:schemeClr val="dk1"/>
                </a:solidFill>
              </a:rPr>
              <a:t>w</a:t>
            </a:r>
            <a:r>
              <a:rPr baseline="-25000" lang="ru">
                <a:solidFill>
                  <a:schemeClr val="dk1"/>
                </a:solidFill>
              </a:rPr>
              <a:t>l</a:t>
            </a:r>
            <a:r>
              <a:rPr lang="ru">
                <a:solidFill>
                  <a:schemeClr val="dk1"/>
                </a:solidFill>
              </a:rPr>
              <a:t>, w</a:t>
            </a:r>
            <a:r>
              <a:rPr baseline="-25000" lang="ru">
                <a:solidFill>
                  <a:schemeClr val="dk1"/>
                </a:solidFill>
              </a:rPr>
              <a:t>c</a:t>
            </a:r>
            <a:r>
              <a:rPr lang="ru">
                <a:solidFill>
                  <a:schemeClr val="dk1"/>
                </a:solidFill>
              </a:rPr>
              <a:t>, w</a:t>
            </a:r>
            <a:r>
              <a:rPr baseline="-25000" lang="ru">
                <a:solidFill>
                  <a:schemeClr val="dk1"/>
                </a:solidFill>
              </a:rPr>
              <a:t>r</a:t>
            </a:r>
            <a:r>
              <a:rPr lang="ru">
                <a:solidFill>
                  <a:schemeClr val="dk1"/>
                </a:solidFill>
              </a:rPr>
              <a:t> - случайно выбранные опорные вектора, на их основе генерируется последовательность.</a:t>
            </a:r>
            <a:endParaRPr>
              <a:solidFill>
                <a:schemeClr val="dk1"/>
              </a:solidFill>
            </a:endParaRPr>
          </a:p>
          <a:p>
            <a:pPr indent="0" lvl="0" marL="0" rtl="0" algn="l">
              <a:spcBef>
                <a:spcPts val="1200"/>
              </a:spcBef>
              <a:spcAft>
                <a:spcPts val="0"/>
              </a:spcAft>
              <a:buNone/>
            </a:pPr>
            <a:r>
              <a:rPr lang="ru">
                <a:solidFill>
                  <a:schemeClr val="dk1"/>
                </a:solidFill>
              </a:rPr>
              <a:t>W</a:t>
            </a:r>
            <a:r>
              <a:rPr baseline="-25000" lang="ru">
                <a:solidFill>
                  <a:schemeClr val="dk1"/>
                </a:solidFill>
              </a:rPr>
              <a:t>1</a:t>
            </a:r>
            <a:r>
              <a:rPr lang="ru">
                <a:solidFill>
                  <a:schemeClr val="dk1"/>
                </a:solidFill>
              </a:rPr>
              <a:t>, W</a:t>
            </a:r>
            <a:r>
              <a:rPr baseline="-25000" lang="ru">
                <a:solidFill>
                  <a:schemeClr val="dk1"/>
                </a:solidFill>
              </a:rPr>
              <a:t>2</a:t>
            </a:r>
            <a:r>
              <a:rPr lang="ru">
                <a:solidFill>
                  <a:schemeClr val="dk1"/>
                </a:solidFill>
              </a:rPr>
              <a:t> - случайным образом выбираем из w пару w12 координатных векторов для генерации. Можно менять длину векторов, соответственно меняя длину генерируемого сигнала.</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ct val="61111"/>
              <a:buFont typeface="Arial"/>
              <a:buNone/>
            </a:pPr>
            <a:r>
              <a:t/>
            </a:r>
            <a:endParaRPr baseline="-25000"/>
          </a:p>
        </p:txBody>
      </p:sp>
      <p:pic>
        <p:nvPicPr>
          <p:cNvPr id="131" name="Google Shape;131;p23"/>
          <p:cNvPicPr preferRelativeResize="0"/>
          <p:nvPr/>
        </p:nvPicPr>
        <p:blipFill>
          <a:blip r:embed="rId4">
            <a:alphaModFix/>
          </a:blip>
          <a:stretch>
            <a:fillRect/>
          </a:stretch>
        </p:blipFill>
        <p:spPr>
          <a:xfrm>
            <a:off x="311700" y="4090050"/>
            <a:ext cx="5543550" cy="70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Пример генерации техно MUSIKA</a:t>
            </a:r>
            <a:endParaRPr/>
          </a:p>
        </p:txBody>
      </p:sp>
      <p:sp>
        <p:nvSpPr>
          <p:cNvPr id="137" name="Google Shape;13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Abstract&#10;&#10;Fast and user-controllable music generation could enable novel ways of composing music. However, state-of-the-art music generation systems require large amounts of data and computational resources for training, and are slow at inference. This makes them impractical for real-time interactive use. In this work, we introduce Musika, a music generation system that can be trained on hundreds of hours of music using a single consumer GPU, and that allows for much faster than real-time generation of music of arbitrary length on a consumer CPU. We achieve this by first learning a compact invertible representation of spectrogram magnitudes and phases with adversarial autoencoders, then training a Generative Adversarial Network (GAN) on this representation for a particular music domain. A latent coordinate system enables generating arbitrarily long sequences of excerpts in parallel, while a global context vector allows the music to remain stylistically coherent through time. We perform quantitative evaluations to assess the quality of the generated samples and showcase options for user control in piano and techno music generation. We release the source code and pretrained autoencoder weights, such that a GAN can be trained on a new music domain with a single GPU in a matter of hours." id="138" name="Google Shape;138;p24" title="Musika Techno Samples">
            <a:hlinkClick r:id="rId3"/>
          </p:cNvPr>
          <p:cNvPicPr preferRelativeResize="0"/>
          <p:nvPr/>
        </p:nvPicPr>
        <p:blipFill>
          <a:blip r:embed="rId4">
            <a:alphaModFix/>
          </a:blip>
          <a:stretch>
            <a:fillRect/>
          </a:stretch>
        </p:blipFill>
        <p:spPr>
          <a:xfrm>
            <a:off x="1350608" y="1243701"/>
            <a:ext cx="6442792" cy="362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